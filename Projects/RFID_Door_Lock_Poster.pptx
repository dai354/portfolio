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1pPr>
    <a:lvl2pPr marL="1567510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2pPr>
    <a:lvl3pPr marL="3135020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3pPr>
    <a:lvl4pPr marL="4702531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4pPr>
    <a:lvl5pPr marL="6270041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5pPr>
    <a:lvl6pPr marL="7837551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6pPr>
    <a:lvl7pPr marL="9405061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7pPr>
    <a:lvl8pPr marL="10972571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8pPr>
    <a:lvl9pPr marL="12540082" algn="l" defTabSz="156751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B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0BF68-D132-A92F-6643-542593A86F17}" v="12" dt="2025-04-17T19:19:29.933"/>
    <p1510:client id="{FFC3FD46-8113-4EF1-76ED-FEC32D141215}" v="4" dt="2025-04-17T18:33:37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6912"/>
        <p:guide pos="1036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2"/>
            <a:ext cx="2798064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6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13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702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27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837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405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5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2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2"/>
            <a:ext cx="27980640" cy="4358640"/>
          </a:xfrm>
        </p:spPr>
        <p:txBody>
          <a:bodyPr anchor="t"/>
          <a:lstStyle>
            <a:lvl1pPr algn="l">
              <a:defRPr sz="13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0" cy="4800598"/>
          </a:xfrm>
        </p:spPr>
        <p:txBody>
          <a:bodyPr anchor="b"/>
          <a:lstStyle>
            <a:lvl1pPr marL="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1pPr>
            <a:lvl2pPr marL="156751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2pPr>
            <a:lvl3pPr marL="3135020" indent="0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3pPr>
            <a:lvl4pPr marL="470253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627004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783755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940506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6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57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2"/>
            <a:ext cx="14544677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7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4912362"/>
            <a:ext cx="14550390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6959600"/>
            <a:ext cx="14550390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7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873760"/>
            <a:ext cx="10829927" cy="3718560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873761"/>
            <a:ext cx="18402300" cy="18729962"/>
          </a:xfrm>
        </p:spPr>
        <p:txBody>
          <a:bodyPr/>
          <a:lstStyle>
            <a:lvl1pPr>
              <a:defRPr sz="11000"/>
            </a:lvl1pPr>
            <a:lvl2pPr>
              <a:defRPr sz="9600"/>
            </a:lvl2pPr>
            <a:lvl3pPr>
              <a:defRPr sz="82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4592321"/>
            <a:ext cx="10829927" cy="15011402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0"/>
            <a:ext cx="19751040" cy="1813562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0"/>
            <a:ext cx="19751040" cy="13167360"/>
          </a:xfrm>
        </p:spPr>
        <p:txBody>
          <a:bodyPr/>
          <a:lstStyle>
            <a:lvl1pPr marL="0" indent="0">
              <a:buNone/>
              <a:defRPr sz="11000"/>
            </a:lvl1pPr>
            <a:lvl2pPr marL="1567510" indent="0">
              <a:buNone/>
              <a:defRPr sz="9600"/>
            </a:lvl2pPr>
            <a:lvl3pPr marL="3135020" indent="0">
              <a:buNone/>
              <a:defRPr sz="8200"/>
            </a:lvl3pPr>
            <a:lvl4pPr marL="4702531" indent="0">
              <a:buNone/>
              <a:defRPr sz="6900"/>
            </a:lvl4pPr>
            <a:lvl5pPr marL="6270041" indent="0">
              <a:buNone/>
              <a:defRPr sz="6900"/>
            </a:lvl5pPr>
            <a:lvl6pPr marL="7837551" indent="0">
              <a:buNone/>
              <a:defRPr sz="6900"/>
            </a:lvl6pPr>
            <a:lvl7pPr marL="9405061" indent="0">
              <a:buNone/>
              <a:defRPr sz="6900"/>
            </a:lvl7pPr>
            <a:lvl8pPr marL="10972571" indent="0">
              <a:buNone/>
              <a:defRPr sz="6900"/>
            </a:lvl8pPr>
            <a:lvl9pPr marL="12540082" indent="0">
              <a:buNone/>
              <a:defRPr sz="6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2"/>
            <a:ext cx="19751040" cy="2575558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7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0" y="878843"/>
            <a:ext cx="7406640" cy="18724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878843"/>
            <a:ext cx="21671280" cy="18724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5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878842"/>
            <a:ext cx="29626560" cy="3657600"/>
          </a:xfrm>
          <a:prstGeom prst="rect">
            <a:avLst/>
          </a:prstGeom>
        </p:spPr>
        <p:txBody>
          <a:bodyPr vert="horz" lIns="313502" tIns="156751" rIns="313502" bIns="15675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5120641"/>
            <a:ext cx="29626560" cy="14483082"/>
          </a:xfrm>
          <a:prstGeom prst="rect">
            <a:avLst/>
          </a:prstGeom>
        </p:spPr>
        <p:txBody>
          <a:bodyPr vert="horz" lIns="313502" tIns="156751" rIns="313502" bIns="1567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0322"/>
            <a:ext cx="7680960" cy="11684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l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B4BDF-9032-3942-AC8E-515BA2F41F0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20340322"/>
            <a:ext cx="10424160" cy="11684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ct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20340322"/>
            <a:ext cx="7680960" cy="11684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67363-F526-4B49-BAD5-8588CFBDEB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Design Day Template.pd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918400" cy="21945600"/>
          </a:xfrm>
          <a:prstGeom prst="rect">
            <a:avLst/>
          </a:prstGeom>
        </p:spPr>
      </p:pic>
      <p:pic>
        <p:nvPicPr>
          <p:cNvPr id="9" name="Picture 8" descr="Design Day Template.pdf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5" r="55324" b="82856"/>
          <a:stretch/>
        </p:blipFill>
        <p:spPr>
          <a:xfrm>
            <a:off x="457200" y="294643"/>
            <a:ext cx="7058026" cy="3762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8792"/>
            <a:ext cx="8343900" cy="193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2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67510" rtl="0" eaLnBrk="1" latinLnBrk="0" hangingPunct="1">
        <a:spcBef>
          <a:spcPct val="0"/>
        </a:spcBef>
        <a:buNone/>
        <a:defRPr sz="1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75633" indent="-1175633" algn="l" defTabSz="1567510" rtl="0" eaLnBrk="1" latinLnBrk="0" hangingPunct="1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7204" indent="-979694" algn="l" defTabSz="156751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776" indent="-783755" algn="l" defTabSz="1567510" rtl="0" eaLnBrk="1" latinLnBrk="0" hangingPunct="1">
        <a:spcBef>
          <a:spcPct val="20000"/>
        </a:spcBef>
        <a:buFont typeface="Arial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86" indent="-783755" algn="l" defTabSz="1567510" rtl="0" eaLnBrk="1" latinLnBrk="0" hangingPunct="1">
        <a:spcBef>
          <a:spcPct val="20000"/>
        </a:spcBef>
        <a:buFont typeface="Arial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796" indent="-783755" algn="l" defTabSz="1567510" rtl="0" eaLnBrk="1" latinLnBrk="0" hangingPunct="1">
        <a:spcBef>
          <a:spcPct val="20000"/>
        </a:spcBef>
        <a:buFont typeface="Arial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306" indent="-783755" algn="l" defTabSz="1567510" rtl="0" eaLnBrk="1" latinLnBrk="0" hangingPunct="1">
        <a:spcBef>
          <a:spcPct val="20000"/>
        </a:spcBef>
        <a:buFont typeface="Arial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8816" indent="-783755" algn="l" defTabSz="1567510" rtl="0" eaLnBrk="1" latinLnBrk="0" hangingPunct="1">
        <a:spcBef>
          <a:spcPct val="20000"/>
        </a:spcBef>
        <a:buFont typeface="Arial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327" indent="-783755" algn="l" defTabSz="1567510" rtl="0" eaLnBrk="1" latinLnBrk="0" hangingPunct="1">
        <a:spcBef>
          <a:spcPct val="20000"/>
        </a:spcBef>
        <a:buFont typeface="Arial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3837" indent="-783755" algn="l" defTabSz="1567510" rtl="0" eaLnBrk="1" latinLnBrk="0" hangingPunct="1">
        <a:spcBef>
          <a:spcPct val="20000"/>
        </a:spcBef>
        <a:buFont typeface="Arial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10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20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531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041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551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061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571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082" algn="l" defTabSz="156751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6201" y="4686969"/>
            <a:ext cx="1524021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>
              <a:latin typeface="2Stone Sans"/>
              <a:cs typeface="2Stone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3295" y="5271745"/>
            <a:ext cx="6774548" cy="4524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latin typeface="Arial"/>
                <a:cs typeface="Arial"/>
              </a:rPr>
              <a:t>Opportunity and Significance</a:t>
            </a:r>
          </a:p>
          <a:p>
            <a:pPr algn="ctr"/>
            <a:endParaRPr lang="en-US" sz="3200">
              <a:latin typeface="Arial"/>
              <a:cs typeface="Arial"/>
            </a:endParaRPr>
          </a:p>
          <a:p>
            <a:pPr algn="ctr"/>
            <a:r>
              <a:rPr lang="en-US" sz="3200">
                <a:latin typeface="Arial"/>
                <a:cs typeface="Arial"/>
              </a:rPr>
              <a:t>The significance is easily accessible security that you can trust , RFID is becoming a common form of security due to its convenience of being a hand-held form of a key, but with another layer of protection on the door. </a:t>
            </a:r>
          </a:p>
        </p:txBody>
      </p:sp>
      <p:sp>
        <p:nvSpPr>
          <p:cNvPr id="9" name="TextBox 8"/>
          <p:cNvSpPr txBox="1"/>
          <p:nvPr/>
        </p:nvSpPr>
        <p:spPr>
          <a:xfrm rot="10800000" flipV="1">
            <a:off x="69401" y="10290471"/>
            <a:ext cx="6585100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bg2">
                    <a:lumMod val="49000"/>
                  </a:schemeClr>
                </a:solidFill>
                <a:latin typeface="Arial"/>
                <a:cs typeface="Arial"/>
              </a:rPr>
              <a:t>Technical Approach,  Accomplishments and  Results</a:t>
            </a:r>
          </a:p>
          <a:p>
            <a:pPr algn="ctr"/>
            <a:r>
              <a:rPr lang="en-US" sz="3200">
                <a:latin typeface="Arial"/>
                <a:cs typeface="Arial"/>
              </a:rPr>
              <a:t>We approached this project with the idea of effectively implementing home security with </a:t>
            </a:r>
            <a:r>
              <a:rPr lang="en-US" sz="3200" err="1">
                <a:latin typeface="Arial"/>
                <a:cs typeface="Arial"/>
              </a:rPr>
              <a:t>arduino</a:t>
            </a:r>
            <a:r>
              <a:rPr lang="en-US" sz="3200">
                <a:latin typeface="Arial"/>
                <a:cs typeface="Arial"/>
              </a:rPr>
              <a:t>.</a:t>
            </a: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>
              <a:latin typeface="Arial"/>
              <a:cs typeface="Arial"/>
            </a:endParaRPr>
          </a:p>
          <a:p>
            <a:pPr algn="ctr"/>
            <a:endParaRPr lang="en-US" sz="3200">
              <a:latin typeface="Arial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24501" y="5271745"/>
            <a:ext cx="8069256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rgbClr val="FFFF00"/>
                </a:solidFill>
                <a:latin typeface="Arial"/>
                <a:cs typeface="Arial"/>
              </a:rPr>
              <a:t>Next Steps for Development and Test</a:t>
            </a:r>
          </a:p>
          <a:p>
            <a:pPr algn="ctr"/>
            <a:endParaRPr lang="en-US" sz="3200">
              <a:solidFill>
                <a:srgbClr val="FFFF00"/>
              </a:solidFill>
              <a:latin typeface="Arial"/>
              <a:cs typeface="Arial"/>
            </a:endParaRPr>
          </a:p>
          <a:p>
            <a:pPr algn="ctr"/>
            <a:r>
              <a:rPr lang="en-US" sz="3200">
                <a:latin typeface="Arial"/>
                <a:cs typeface="Arial"/>
              </a:rPr>
              <a:t>Further research of more compact Arduino technology and PIR sensors are needed to make the design a bit more practical and secure. The goal is to fit it onto a box shape and easy to install onto a wall.</a:t>
            </a:r>
          </a:p>
        </p:txBody>
      </p:sp>
      <p:sp>
        <p:nvSpPr>
          <p:cNvPr id="11" name="TextBox 10"/>
          <p:cNvSpPr txBox="1"/>
          <p:nvPr/>
        </p:nvSpPr>
        <p:spPr>
          <a:xfrm flipH="1">
            <a:off x="11384161" y="5287161"/>
            <a:ext cx="12382410" cy="3046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  <a:latin typeface="Arial"/>
                <a:cs typeface="Arial"/>
              </a:rPr>
              <a:t>Technical Objectives</a:t>
            </a:r>
          </a:p>
          <a:p>
            <a:pPr algn="ctr"/>
            <a:r>
              <a:rPr lang="en-US" sz="3200">
                <a:latin typeface="Arial"/>
                <a:cs typeface="Arial"/>
              </a:rPr>
              <a:t>To completely lock a door using the Arduino as an RFID sensor/reader that reacts to an RFID (card) tag to unlock your doors. This helps keeps your home safe, and is easier to keep around than a key,  </a:t>
            </a:r>
          </a:p>
          <a:p>
            <a:pPr algn="ctr"/>
            <a:endParaRPr lang="en-US" sz="3200"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4334" y="13276003"/>
            <a:ext cx="5250213" cy="5016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Arial"/>
                <a:cs typeface="Arial"/>
              </a:rPr>
              <a:t>Related Work and State of Practice</a:t>
            </a:r>
          </a:p>
          <a:p>
            <a:pPr algn="ctr"/>
            <a:r>
              <a:rPr lang="en-US" sz="3200">
                <a:latin typeface="Arial"/>
                <a:cs typeface="Arial"/>
              </a:rPr>
              <a:t>The project is related to home security and protection with more personalized and modern forms of security similar products are ring doorbells, security alarms, and camera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44832" y="9308332"/>
            <a:ext cx="9348925" cy="89562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Arial"/>
                <a:cs typeface="Arial"/>
              </a:rPr>
              <a:t>Commercialization Plan &amp; Partners</a:t>
            </a:r>
          </a:p>
          <a:p>
            <a:pPr algn="ctr"/>
            <a:r>
              <a:rPr lang="en-US" sz="3200" dirty="0">
                <a:latin typeface="Arial"/>
                <a:cs typeface="Arial"/>
              </a:rPr>
              <a:t>Our Team Consisted of Deeksha Hadagali, Harshil </a:t>
            </a:r>
            <a:r>
              <a:rPr lang="en-US" sz="3200" err="1">
                <a:latin typeface="Arial"/>
                <a:cs typeface="Arial"/>
              </a:rPr>
              <a:t>Kunjadiya</a:t>
            </a:r>
            <a:r>
              <a:rPr lang="en-US" sz="3200" dirty="0">
                <a:latin typeface="Arial"/>
                <a:cs typeface="Arial"/>
              </a:rPr>
              <a:t>, Jose Arellano, and Daishon Nelson </a:t>
            </a:r>
          </a:p>
          <a:p>
            <a:pPr algn="ctr"/>
            <a:endParaRPr lang="en-US" sz="3200">
              <a:latin typeface="Arial"/>
              <a:cs typeface="Arial"/>
            </a:endParaRPr>
          </a:p>
          <a:p>
            <a:pPr algn="ctr"/>
            <a:r>
              <a:rPr lang="en-US" sz="3200" dirty="0">
                <a:latin typeface="Arial"/>
                <a:cs typeface="Arial"/>
              </a:rPr>
              <a:t>Who will you work with to commercialize the product or process?</a:t>
            </a:r>
          </a:p>
          <a:p>
            <a:pPr algn="ctr"/>
            <a:endParaRPr lang="en-US" sz="3200">
              <a:latin typeface="Arial"/>
              <a:cs typeface="Arial"/>
            </a:endParaRPr>
          </a:p>
          <a:p>
            <a:pPr algn="ctr"/>
            <a:r>
              <a:rPr lang="en-US" sz="3200" dirty="0">
                <a:latin typeface="Arial"/>
                <a:cs typeface="Arial"/>
              </a:rPr>
              <a:t>A home security business that partners with homeowners and businesses with the goal of protections. Such as ADT or Allstate, or any home security company.</a:t>
            </a:r>
          </a:p>
          <a:p>
            <a:pPr algn="ctr"/>
            <a:endParaRPr lang="en-US" sz="3200">
              <a:latin typeface="Arial"/>
              <a:cs typeface="Arial"/>
            </a:endParaRPr>
          </a:p>
          <a:p>
            <a:pPr algn="ctr"/>
            <a:r>
              <a:rPr lang="en-US" sz="3200" dirty="0">
                <a:latin typeface="Arial"/>
                <a:cs typeface="Arial"/>
              </a:rPr>
              <a:t>What are the main steps or hurdles to commercialization?</a:t>
            </a:r>
          </a:p>
          <a:p>
            <a:pPr algn="ctr"/>
            <a:endParaRPr lang="en-US" sz="3200">
              <a:latin typeface="Arial"/>
              <a:cs typeface="Arial"/>
            </a:endParaRPr>
          </a:p>
          <a:p>
            <a:pPr algn="ctr"/>
            <a:r>
              <a:rPr lang="en-US" sz="3200" dirty="0">
                <a:latin typeface="Arial"/>
                <a:cs typeface="Arial"/>
              </a:rPr>
              <a:t>Finding a trusted business that acknowledges the pitch of the project and serve as a third-party seller through their platform,.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44832" y="18265645"/>
            <a:ext cx="9348925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References</a:t>
            </a:r>
          </a:p>
          <a:p>
            <a:pPr algn="ctr"/>
            <a:r>
              <a:rPr lang="en-US" sz="3200" b="1">
                <a:latin typeface="Arial"/>
                <a:cs typeface="Arial"/>
              </a:rPr>
              <a:t>"RFID Door Lock (Updated) "</a:t>
            </a:r>
          </a:p>
          <a:p>
            <a:pPr algn="ctr"/>
            <a:r>
              <a:rPr lang="en-US" sz="4000">
                <a:latin typeface="Aptos"/>
                <a:cs typeface="Arial"/>
              </a:rPr>
              <a:t>https://projecthub.arduino.cc/mehmetefepekerr/rfid-door-lock-updated-e77ecb</a:t>
            </a: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267053" y="2807760"/>
            <a:ext cx="8414294" cy="5847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Daishon, Harshil, Deeksha, Jose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31041" y="939545"/>
            <a:ext cx="611552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Professor  Lubna Alazzawi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13853" y="1655125"/>
            <a:ext cx="5549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Department of Electrical and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2341B-AB4D-4982-482B-5F0EB347873A}"/>
              </a:ext>
            </a:extLst>
          </p:cNvPr>
          <p:cNvSpPr txBox="1"/>
          <p:nvPr/>
        </p:nvSpPr>
        <p:spPr>
          <a:xfrm>
            <a:off x="11880783" y="441562"/>
            <a:ext cx="1002407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>
                <a:solidFill>
                  <a:schemeClr val="bg1"/>
                </a:solidFill>
                <a:ea typeface="Calibri"/>
                <a:cs typeface="Calibri"/>
              </a:rPr>
              <a:t>RFID DOOR LOCK</a:t>
            </a:r>
          </a:p>
        </p:txBody>
      </p:sp>
      <p:pic>
        <p:nvPicPr>
          <p:cNvPr id="6" name="Picture 5" descr="A circuit board with wires&#10;&#10;AI-generated content may be incorrect.">
            <a:extLst>
              <a:ext uri="{FF2B5EF4-FFF2-40B4-BE49-F238E27FC236}">
                <a16:creationId xmlns:a16="http://schemas.microsoft.com/office/drawing/2014/main" id="{B2CB3DA7-B79E-BDD0-B2C2-C68A7B1F4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309" y="15396794"/>
            <a:ext cx="4180113" cy="4413968"/>
          </a:xfrm>
          <a:prstGeom prst="rect">
            <a:avLst/>
          </a:prstGeom>
        </p:spPr>
      </p:pic>
      <p:pic>
        <p:nvPicPr>
          <p:cNvPr id="7" name="Picture 6" descr="Image result for pir sensor arduino">
            <a:extLst>
              <a:ext uri="{FF2B5EF4-FFF2-40B4-BE49-F238E27FC236}">
                <a16:creationId xmlns:a16="http://schemas.microsoft.com/office/drawing/2014/main" id="{B2CC3F1D-E49C-1F3B-3CC3-1C0D5A6DA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258" y="5008712"/>
            <a:ext cx="2851554" cy="3508794"/>
          </a:xfrm>
          <a:prstGeom prst="rect">
            <a:avLst/>
          </a:prstGeom>
        </p:spPr>
      </p:pic>
      <p:pic>
        <p:nvPicPr>
          <p:cNvPr id="8" name="Picture 7" descr="Image result for rfid scanner arduino">
            <a:extLst>
              <a:ext uri="{FF2B5EF4-FFF2-40B4-BE49-F238E27FC236}">
                <a16:creationId xmlns:a16="http://schemas.microsoft.com/office/drawing/2014/main" id="{CC23B7C0-7F2A-760D-5009-4FEDB4440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5558" y="8153041"/>
            <a:ext cx="3566685" cy="3983247"/>
          </a:xfrm>
          <a:prstGeom prst="rect">
            <a:avLst/>
          </a:prstGeom>
        </p:spPr>
      </p:pic>
      <p:pic>
        <p:nvPicPr>
          <p:cNvPr id="13" name="Picture 12" descr="Image result for rfid door lock">
            <a:extLst>
              <a:ext uri="{FF2B5EF4-FFF2-40B4-BE49-F238E27FC236}">
                <a16:creationId xmlns:a16="http://schemas.microsoft.com/office/drawing/2014/main" id="{38206B52-86C8-4AAB-9FFA-4BC7C34D4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9214" y="8167328"/>
            <a:ext cx="3860678" cy="3908664"/>
          </a:xfrm>
          <a:prstGeom prst="rect">
            <a:avLst/>
          </a:prstGeom>
        </p:spPr>
      </p:pic>
      <p:pic>
        <p:nvPicPr>
          <p:cNvPr id="14" name="Picture 13" descr="Image result for tech project management images">
            <a:extLst>
              <a:ext uri="{FF2B5EF4-FFF2-40B4-BE49-F238E27FC236}">
                <a16:creationId xmlns:a16="http://schemas.microsoft.com/office/drawing/2014/main" id="{B62AEFE5-085E-CCE0-0EE6-2A9B2F0B6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866" y="14779745"/>
            <a:ext cx="10671143" cy="4992178"/>
          </a:xfrm>
          <a:prstGeom prst="rect">
            <a:avLst/>
          </a:prstGeom>
        </p:spPr>
      </p:pic>
      <p:pic>
        <p:nvPicPr>
          <p:cNvPr id="15" name="Picture 14" descr="A computer with wires and a light bulb on it&#10;&#10;AI-generated content may be incorrect.">
            <a:extLst>
              <a:ext uri="{FF2B5EF4-FFF2-40B4-BE49-F238E27FC236}">
                <a16:creationId xmlns:a16="http://schemas.microsoft.com/office/drawing/2014/main" id="{57341285-B398-4331-041A-564AE282EA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861710" y="8794377"/>
            <a:ext cx="4986300" cy="602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49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Bowles</dc:creator>
  <cp:revision>10</cp:revision>
  <dcterms:created xsi:type="dcterms:W3CDTF">2015-04-06T17:19:05Z</dcterms:created>
  <dcterms:modified xsi:type="dcterms:W3CDTF">2026-09-10T15:41:09Z</dcterms:modified>
</cp:coreProperties>
</file>